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03920" y="-1554480"/>
            <a:ext cx="4754880" cy="475488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CHANDIGARH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241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7D2FE"/>
                </a:solidFill>
                <a:latin typeface="Segoe UI"/>
              </a:rPr>
              <a:t>University Institute of Computing  ·  Department of Computer Applications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CD9B0"/>
                </a:solidFill>
                <a:latin typeface="Poppins"/>
              </a:rPr>
              <a:t>FINAL-YEAR MAJOR PROJECT REPORT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95728"/>
            <a:ext cx="2194560" cy="82296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56032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Poppins"/>
              </a:rPr>
              <a:t>BharatVote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11880"/>
            <a:ext cx="10241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Georgia"/>
              </a:rPr>
              <a:t>A Secure Digital Voting Platform for the Indian Election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80560"/>
            <a:ext cx="63093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64515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Submitted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4645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Saransh Kumar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5663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University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0566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023BCA110194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46811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Programme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54681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BCA-V2  ·  2023 –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795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Mentor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5879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Sahil Jindal — Quollabb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7D2FE"/>
                </a:solidFill>
                <a:latin typeface="Georgia"/>
              </a:rPr>
              <a:t>Industry mentorship by Quollabb, in partnership with Chandigarh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475569"/>
                </a:solidFill>
                <a:latin typeface="Georgia"/>
              </a:rPr>
              <a:t>BharatVote is a secure, real-time digital voting platform for the Indian election system — unifying voter registration, verification, voting, and results in one application.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0F1E3D"/>
                </a:solidFill>
                <a:latin typeface="Poppins"/>
              </a:rPr>
              <a:t>A voting system must satisfy properties that are often in tension: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1">
                <a:solidFill>
                  <a:srgbClr val="0F1E3D"/>
                </a:solidFill>
                <a:latin typeface="Segoe UI"/>
              </a:rPr>
              <a:t>Integrity.  </a:t>
            </a:r>
            <a:r>
              <a:rPr sz="1400" b="0">
                <a:solidFill>
                  <a:srgbClr val="0F1E3D"/>
                </a:solidFill>
                <a:latin typeface="Segoe UI"/>
              </a:rPr>
              <a:t>One vote per voter per election; recorded votes are immutable.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1">
                <a:solidFill>
                  <a:srgbClr val="0F1E3D"/>
                </a:solidFill>
                <a:latin typeface="Segoe UI"/>
              </a:rPr>
              <a:t>Authentication.  </a:t>
            </a:r>
            <a:r>
              <a:rPr sz="1400" b="0">
                <a:solidFill>
                  <a:srgbClr val="0F1E3D"/>
                </a:solidFill>
                <a:latin typeface="Segoe UI"/>
              </a:rPr>
              <a:t>Only verified, eligible citizens may vote.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1">
                <a:solidFill>
                  <a:srgbClr val="0F1E3D"/>
                </a:solidFill>
                <a:latin typeface="Segoe UI"/>
              </a:rPr>
              <a:t>Verifiability.  </a:t>
            </a:r>
            <a:r>
              <a:rPr sz="1400" b="0">
                <a:solidFill>
                  <a:srgbClr val="0F1E3D"/>
                </a:solidFill>
                <a:latin typeface="Segoe UI"/>
              </a:rPr>
              <a:t>A vote is private, yet the voter can confirm it was counted.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1">
                <a:solidFill>
                  <a:srgbClr val="0F1E3D"/>
                </a:solidFill>
                <a:latin typeface="Segoe UI"/>
              </a:rPr>
              <a:t>Transparency.  </a:t>
            </a:r>
            <a:r>
              <a:rPr sz="1400" b="0">
                <a:solidFill>
                  <a:srgbClr val="0F1E3D"/>
                </a:solidFill>
                <a:latin typeface="Segoe UI"/>
              </a:rPr>
              <a:t>Results are publicly auditable and timely.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91672" cy="731520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5532120"/>
            <a:ext cx="91440" cy="73152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FF9933"/>
                </a:solidFill>
                <a:latin typeface="Poppins"/>
              </a:rPr>
              <a:t>THE GOAL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F1E3D"/>
                </a:solidFill>
                <a:latin typeface="Segoe UI"/>
              </a:rPr>
              <a:t>Deliver these guarantees with a database-enforced security model and managed cloud services.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1732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17320"/>
            <a:ext cx="73152" cy="13716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Domain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98424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Voters, elections, candidates, votes, booths, documents — a secure relational schema.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6824" y="141732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417320"/>
            <a:ext cx="73152" cy="13716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Registration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198424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EPIC-based identity with an in-browser facial-capture step.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141732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1417320"/>
            <a:ext cx="73152" cy="137160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6" y="156362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Secure voting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6176" y="198424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One-per-election integrity, encoded ballot, unique confirmation ID.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92608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926080"/>
            <a:ext cx="73152" cy="137160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07238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Verifiability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49300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Independent vote verification by confirmation identifier.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292608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2926080"/>
            <a:ext cx="73152" cy="137160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307238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Live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349300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Real-time vote counts and analytics.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5008" y="2926080"/>
            <a:ext cx="3593592" cy="137160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5008" y="2926080"/>
            <a:ext cx="73152" cy="137160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72384"/>
            <a:ext cx="31912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DB-enforced security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493008"/>
            <a:ext cx="3191256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Row Level Security + server-side privilege separation.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Scope of the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6B06"/>
                </a:solidFill>
                <a:latin typeface="Poppins"/>
              </a:rPr>
              <a:t>In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Full voter journey: register → verify → browse → vote → confirm → results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EPIC entry + in-browser facial capture; one-vote-per-election integrity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Live results with charts; vote verification; booth, documents, admin modules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38808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Database-enforced privacy — sensitive data reachable only server-side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9933"/>
                </a:solidFill>
                <a:latin typeface="Poppins"/>
              </a:rPr>
              <a:t>Out of scope (future work)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Live Aadhaar authentication &amp; biometric face-matching (simulated here)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Formal end-to-end verifiable cryptographic voting protocol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00" b="0">
                <a:solidFill>
                  <a:srgbClr val="0F1E3D"/>
                </a:solidFill>
                <a:latin typeface="Segoe UI"/>
              </a:rPr>
              <a:t>SMS/OTP multi-factor and interactive booth maps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Existing Systems &amp;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508760"/>
          <a:ext cx="11091672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286000"/>
                <a:gridCol w="2926080"/>
                <a:gridCol w="295351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Property</a:t>
                      </a:r>
                    </a:p>
                  </a:txBody>
                  <a:tcPr marL="109728" marR="73152" marT="36576" marB="36576" anchor="ctr"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Paper / EVM</a:t>
                      </a:r>
                    </a:p>
                  </a:txBody>
                  <a:tcPr marL="109728" marR="73152" marT="36576" marB="36576" anchor="ctr">
                    <a:solidFill>
                      <a:srgbClr val="2230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Estonia i-Voting</a:t>
                      </a:r>
                    </a:p>
                  </a:txBody>
                  <a:tcPr marL="109728" marR="73152" marT="36576" marB="36576" anchor="ctr"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Poppins"/>
                        </a:rPr>
                        <a:t>BharatVote</a:t>
                      </a:r>
                    </a:p>
                  </a:txBody>
                  <a:tcPr marL="109728" marR="73152" marT="36576" marB="36576" anchor="ctr">
                    <a:solidFill>
                      <a:srgbClr val="22307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Remote participation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 (web)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Identity verification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Manual / at booth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National eID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EPIC + facial capture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One-vote integrity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Device / roll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Cryptographic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DB unique constraint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Voter verifiability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VVPAT slip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Confirmation-ID lookup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Real-time results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Counting day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After close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Live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F1E3D"/>
                          </a:solidFill>
                          <a:latin typeface="Segoe UI"/>
                        </a:rPr>
                        <a:t>Unified voter services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Partial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75569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Georgia"/>
              </a:rPr>
              <a:t>BharatVote unifies registration, verification, voting, verification-of-vote, and results — enforcing integrity at the database layer.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TWO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Proposed System —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475569"/>
                </a:solidFill>
                <a:latin typeface="Georgia"/>
              </a:rPr>
              <a:t>A three-layer, database-centric design: a React client, trusted Next.js server routes, and a policy-secured Supabase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520440" cy="292608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Browser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Next.js · React · TS. Reads public data with a restricted anon key.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096511" y="3429000"/>
            <a:ext cx="182880" cy="274320"/>
          </a:xfrm>
          <a:prstGeom prst="rightArrow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15968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15968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15968" y="2743200"/>
            <a:ext cx="3520440" cy="2926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Server Routes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Trusted API using the service-role key for all writes.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3840" y="3429000"/>
            <a:ext cx="182880" cy="274320"/>
          </a:xfrm>
          <a:prstGeom prst="rightArrow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83296" y="246888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83296" y="2468880"/>
            <a:ext cx="3520440" cy="566928"/>
          </a:xfrm>
          <a:prstGeom prst="roundRect">
            <a:avLst>
              <a:gd name="adj" fmla="val 5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2743200"/>
            <a:ext cx="3520440" cy="292608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54203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Supabase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3200400"/>
            <a:ext cx="3063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PostgreSQL + Row Level Security + auto APIs + email.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A6C"/>
                </a:solidFill>
                <a:latin typeface="Poppins"/>
              </a:rPr>
              <a:t>Principle: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75569"/>
                </a:solidFill>
                <a:latin typeface="Georgia"/>
              </a:rPr>
              <a:t>The database is the source of truth; security is enforced where the data lives; the ballot log is append-only and one-per-voter.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Technology Stack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Next.js 15 + 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App Router hosts the React client and trusted server routes in one project — privilege separation without a separate backend.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463040"/>
            <a:ext cx="73152" cy="201168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38808"/>
                </a:solidFill>
                <a:latin typeface="Poppins"/>
              </a:rPr>
              <a:t>Supabase (PostgreSQL)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Managed database with Row Level Security, auto REST APIs, storage and keys — the whole backend as a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73152" cy="2011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9933"/>
                </a:solidFill>
                <a:latin typeface="Poppins"/>
              </a:rPr>
              <a:t>Tailwind + shadcn/ui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Accessible, composable components and a government-portal design system, with Framer Motion transitions.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703320"/>
            <a:ext cx="73152" cy="2011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Recharts · react-webcam · Resend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Live result charts, in-browser facial capture, and transactional vote-confirmation email.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System 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8600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286000"/>
            <a:ext cx="2560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Browser Client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C7D2FE"/>
                </a:solidFill>
                <a:latin typeface="Segoe UI"/>
              </a:rPr>
              <a:t>anon key · read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49039" y="2286000"/>
            <a:ext cx="2926080" cy="137160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286000"/>
            <a:ext cx="292608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Next.js Server Routes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C7D2FE"/>
                </a:solidFill>
                <a:latin typeface="Segoe UI"/>
              </a:rPr>
              <a:t>service-role · writes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4297680" cy="1920240"/>
          </a:xfrm>
          <a:prstGeom prst="roundRect">
            <a:avLst>
              <a:gd name="adj" fmla="val 8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2011680"/>
            <a:ext cx="429768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Supabase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148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Poppins"/>
              </a:rPr>
              <a:t>SUPABASE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606040"/>
            <a:ext cx="3840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26517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E6B06"/>
                </a:solidFill>
                <a:latin typeface="Poppins"/>
              </a:rPr>
              <a:t>PostgreSQL · RLS · indexes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315468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1912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E6B06"/>
                </a:solidFill>
                <a:latin typeface="Segoe UI"/>
              </a:rPr>
              <a:t>Auto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154680"/>
            <a:ext cx="1828800" cy="411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319125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E6B06"/>
                </a:solidFill>
                <a:latin typeface="Segoe UI"/>
              </a:rPr>
              <a:t>Email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200400" y="2788920"/>
            <a:ext cx="45720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6675120" y="2788920"/>
            <a:ext cx="502920" cy="32004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947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read public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7947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register · vote · tally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The browser holds only a restricted key and can read public electoral data but cannot write or read sensitive tables. All mutations flow through trusted server routes using the service-role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Database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A2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709928"/>
            <a:ext cx="3566160" cy="256032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id · voter_id · full_name · state · face_data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709928"/>
            <a:ext cx="3566160" cy="25603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elections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id · type · state · dates ·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15087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5008" y="15087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5008" y="1709928"/>
            <a:ext cx="3566160" cy="25603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15727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candidates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075688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id · election_id · name · party · votes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310128"/>
            <a:ext cx="3566160" cy="256032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votes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id · election_id · voter_id · candidate_id · confirmation_id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4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A2A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06824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06824" y="3310128"/>
            <a:ext cx="3566160" cy="256032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06824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booths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id · booth_number · address · officer · lat/lng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5008" y="3108960"/>
            <a:ext cx="356616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1388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065008" y="3108960"/>
            <a:ext cx="3566160" cy="457200"/>
          </a:xfrm>
          <a:prstGeom prst="roundRect">
            <a:avLst>
              <a:gd name="adj" fmla="val 5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65008" y="3310128"/>
            <a:ext cx="3566160" cy="256032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317296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onsolas"/>
              </a:rPr>
              <a:t>documents / announcements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675887"/>
            <a:ext cx="3200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75569"/>
                </a:solidFill>
                <a:latin typeface="Consolas"/>
              </a:rPr>
              <a:t>official notices &amp; publications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Seven normalized tables. The votes table is append-only and UNIQUE(election, voter) — double-voting is impossible by construction.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Key Features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192024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Voter registration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8728" y="1920240"/>
            <a:ext cx="365760" cy="36576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Facial capture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79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7" y="1920240"/>
            <a:ext cx="365760" cy="365760"/>
          </a:xfrm>
          <a:prstGeom prst="ellipse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7999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Identity verification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399" y="155448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16567" y="192024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155448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Browse elections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9808" y="324612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Secure voting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38728" y="3246120"/>
            <a:ext cx="365760" cy="36576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69080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One-vote integrity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79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7647" y="3246120"/>
            <a:ext cx="365760" cy="365760"/>
          </a:xfrm>
          <a:prstGeom prst="ellipse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7999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Vote encoding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399" y="288036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16567" y="324612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19" y="288036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Confirmation 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9808" y="457200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Vote verification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37560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38728" y="4572000"/>
            <a:ext cx="365760" cy="36576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Live results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79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27647" y="4572000"/>
            <a:ext cx="365760" cy="365760"/>
          </a:xfrm>
          <a:prstGeom prst="ellipse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7999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Booth locator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15399" y="4206240"/>
            <a:ext cx="2606040" cy="10972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16567" y="4572000"/>
            <a:ext cx="365760" cy="36576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46919" y="4206240"/>
            <a:ext cx="1783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Multi-level admin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Security — Row Level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50" b="1">
                <a:solidFill>
                  <a:srgbClr val="0F1E3D"/>
                </a:solidFill>
                <a:latin typeface="Segoe UI"/>
              </a:rPr>
              <a:t>RLS on every table.  </a:t>
            </a:r>
            <a:r>
              <a:rPr sz="1450" b="0">
                <a:solidFill>
                  <a:srgbClr val="0F1E3D"/>
                </a:solidFill>
                <a:latin typeface="Segoe UI"/>
              </a:rPr>
              <a:t>Access rules attached to the data itself, independent of client code.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50" b="1">
                <a:solidFill>
                  <a:srgbClr val="0F1E3D"/>
                </a:solidFill>
                <a:latin typeface="Segoe UI"/>
              </a:rPr>
              <a:t>Public reads only.  </a:t>
            </a:r>
            <a:r>
              <a:rPr sz="1450" b="0">
                <a:solidFill>
                  <a:srgbClr val="0F1E3D"/>
                </a:solidFill>
                <a:latin typeface="Segoe UI"/>
              </a:rPr>
              <a:t>Elections, candidates, booths, docs, announcements are readable by the anon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1">
                <a:solidFill>
                  <a:srgbClr val="FF9933"/>
                </a:solidFill>
                <a:latin typeface="Segoe UI"/>
              </a:rPr>
              <a:t>▸  </a:t>
            </a:r>
            <a:r>
              <a:rPr sz="1450" b="1">
                <a:solidFill>
                  <a:srgbClr val="0F1E3D"/>
                </a:solidFill>
                <a:latin typeface="Segoe UI"/>
              </a:rPr>
              <a:t>Sensitive tables locked.  </a:t>
            </a:r>
            <a:r>
              <a:rPr sz="1450" b="0">
                <a:solidFill>
                  <a:srgbClr val="0F1E3D"/>
                </a:solidFill>
                <a:latin typeface="Segoe UI"/>
              </a:rPr>
              <a:t>users and votes have NO anon policy — server-role access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40"/>
            <a:ext cx="11091672" cy="1051560"/>
          </a:xfrm>
          <a:prstGeom prst="roundRect">
            <a:avLst>
              <a:gd name="adj" fmla="val 5000"/>
            </a:avLst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75887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3C5FD"/>
                </a:solidFill>
                <a:latin typeface="Consolas"/>
              </a:rPr>
              <a:t>create policy "read candidates" on candidates for select using (true);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EE7B7"/>
                </a:solidFill>
                <a:latin typeface="Consolas"/>
              </a:rPr>
              <a:t>-- users &amp; votes: no anon policy → only the service-role key can touch them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9204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91440" cy="96012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0292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E6B06"/>
                </a:solidFill>
                <a:latin typeface="Poppins"/>
              </a:rPr>
              <a:t>GUARANTEE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D"/>
                </a:solidFill>
                <a:latin typeface="Segoe UI"/>
              </a:rPr>
              <a:t>The browser can display public electoral data but can neither read voter identities/ballots nor write any table. Every mutation passes through trusted server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FOUR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Casting a Vote — 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Voter
selects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68879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98648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98648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/api/vote
checks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27448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57216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57216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append to
votes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6016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15784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15784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tally +1
+ email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44584" y="2788920"/>
            <a:ext cx="384048" cy="365760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74352" y="2377440"/>
            <a:ext cx="1783080" cy="1188720"/>
          </a:xfrm>
          <a:prstGeom prst="roundRect">
            <a:avLst>
              <a:gd name="adj" fmla="val 10000"/>
            </a:avLst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377440"/>
            <a:ext cx="1783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Poppins"/>
              </a:rPr>
              <a:t>confirmation
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233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Georgia"/>
              </a:rPr>
              <a:t>The server verifies the voter has not already voted in this election, appends the encoded ballot to the immutable votes table, increments the candidate's tally so results update live, sends a confirmation email, and returns a unique confirmation identifier for later verification.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23560"/>
            <a:ext cx="11091672" cy="64008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623560"/>
            <a:ext cx="91440" cy="6400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72414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F1E3D"/>
                </a:solidFill>
                <a:latin typeface="Segoe UI"/>
              </a:rPr>
              <a:t>UNIQUE(election, voter) makes double-voting impossible at the database level.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FIVE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Implementation Highlights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463040"/>
            <a:ext cx="73152" cy="2011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Two-client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Browser anon client for public reads; server service-role client for privileged writes.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146304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1463040"/>
            <a:ext cx="73152" cy="2011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160934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9933"/>
                </a:solidFill>
                <a:latin typeface="Poppins"/>
              </a:rPr>
              <a:t>Trusted server routes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02996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register, vote (cast + verify), elections, candidates — enforce all rules server-side.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703320"/>
            <a:ext cx="73152" cy="201168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38808"/>
                </a:solidFill>
                <a:latin typeface="Poppins"/>
              </a:rPr>
              <a:t>Guided React 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Registration (details → capture → done) and voting (select → confirm → done).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703320"/>
            <a:ext cx="5449824" cy="20116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0488" y="3703320"/>
            <a:ext cx="73152" cy="2011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1655" y="3849624"/>
            <a:ext cx="50474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2A6C"/>
                </a:solidFill>
                <a:latin typeface="Poppins"/>
              </a:rPr>
              <a:t>One migration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5" y="4270248"/>
            <a:ext cx="504748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475569"/>
                </a:solidFill>
                <a:latin typeface="Segoe UI"/>
              </a:rPr>
              <a:t>Schema, RLS, indexes and seed data in a single version-controlled SQL file.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SIX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Testing &amp;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1508760"/>
          <a:ext cx="1109167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/>
                <a:gridCol w="3657600"/>
                <a:gridCol w="21305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Test Case</a:t>
                      </a:r>
                    </a:p>
                  </a:txBody>
                  <a:tcPr marL="109728" marR="73152" marT="36576" marB="36576" anchor="ctr">
                    <a:solidFill>
                      <a:srgbClr val="1A2A6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Expected</a:t>
                      </a:r>
                    </a:p>
                  </a:txBody>
                  <a:tcPr marL="109728" marR="73152" marT="36576" marB="36576" anchor="ctr">
                    <a:solidFill>
                      <a:srgbClr val="2230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Status</a:t>
                      </a:r>
                    </a:p>
                  </a:txBody>
                  <a:tcPr marL="109728" marR="73152" marT="36576" marB="36576" anchor="ctr">
                    <a:solidFill>
                      <a:srgbClr val="1A2A6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Register voter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Record created + session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Cast vote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Recorded + confirmation ID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Live tally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Candidate count +1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Double-vote blocked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Second attempt rejected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Verify by confirmation ID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Vote confirmed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RLS: anon read users/votes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Access denied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E3D"/>
                          </a:solidFill>
                          <a:latin typeface="Segoe UI"/>
                        </a:rPr>
                        <a:t>Production build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17 routes, types valid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475569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Georgia"/>
              </a:rPr>
              <a:t>All test cases passed; verified end-to-end on the live cloud database, and the production build compiled cleanly.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CHAPTER NINE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Conclusion &amp; Future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0F1E3D"/>
                </a:solidFill>
                <a:latin typeface="Georgia"/>
              </a:rPr>
              <a:t>A secure, verifiable, real-time digital voting platform — with integrity and privacy enforced at the database layer — was built and verified end-to-end on a live cloud backend, with no separately operated server.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9933"/>
                </a:solidFill>
                <a:latin typeface="Poppins"/>
              </a:rPr>
              <a:t>Future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46120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46120"/>
            <a:ext cx="82296" cy="868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24612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Aadhaar &amp; biometrics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06824" y="3246120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3246120"/>
            <a:ext cx="82296" cy="86868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324612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E2E verifiable crypto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246120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5008" y="3246120"/>
            <a:ext cx="82296" cy="868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246120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SMS / OTP MFA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297679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79"/>
            <a:ext cx="82296" cy="868680"/>
          </a:xfrm>
          <a:prstGeom prst="rect">
            <a:avLst/>
          </a:prstGeom>
          <a:solidFill>
            <a:srgbClr val="1A2A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297679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Tamper-evident audit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4297679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06824" y="4297679"/>
            <a:ext cx="82296" cy="868680"/>
          </a:xfrm>
          <a:prstGeom prst="rect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4297679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Interactive booth maps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8" y="4297679"/>
            <a:ext cx="3593592" cy="868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4297679"/>
            <a:ext cx="82296" cy="86868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4297679"/>
            <a:ext cx="3200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1E3D"/>
                </a:solidFill>
                <a:latin typeface="Poppins"/>
              </a:rPr>
              <a:t>Multi-language &amp; a11y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20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914400"/>
            <a:ext cx="2926080" cy="2926080"/>
          </a:xfrm>
          <a:prstGeom prst="ellipse">
            <a:avLst/>
          </a:prstGeom>
          <a:solidFill>
            <a:srgbClr val="2230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237744"/>
            <a:ext cx="603504" cy="603504"/>
          </a:xfrm>
          <a:prstGeom prst="ellipse">
            <a:avLst/>
          </a:prstGeom>
          <a:noFill/>
          <a:ln w="25400">
            <a:solidFill>
              <a:srgbClr val="FF9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7744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Poppin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"/>
            <a:ext cx="10241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FCD9B0"/>
                </a:solidFill>
                <a:latin typeface="Poppins"/>
              </a:rPr>
              <a:t>BIBLIOGRAPHY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420624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FFFFFF"/>
                </a:solidFill>
                <a:latin typeface="Poppins"/>
              </a:rPr>
              <a:t>References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475569"/>
                </a:solidFill>
                <a:latin typeface="Segoe UI"/>
              </a:rPr>
              <a:t>Saransh Kumar</a:t>
            </a:r>
            <a:r>
              <a:rPr sz="900" b="0">
                <a:solidFill>
                  <a:srgbClr val="475569"/>
                </a:solidFill>
                <a:latin typeface="Segoe UI"/>
              </a:rPr>
              <a:t>  ·  023BCA110194  ·  Chandigarh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73952"/>
            <a:ext cx="15819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475569"/>
                </a:solidFill>
                <a:latin typeface="Segoe UI"/>
              </a:rPr>
              <a:t>Slide </a:t>
            </a:r>
            <a:r>
              <a:rPr sz="900" b="1">
                <a:solidFill>
                  <a:srgbClr val="1A2A6C"/>
                </a:solidFill>
                <a:latin typeface="Segoe UI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109728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[1]  </a:t>
            </a:r>
            <a:r>
              <a:rPr sz="1200" b="0">
                <a:solidFill>
                  <a:srgbClr val="0F1E3D"/>
                </a:solidFill>
                <a:latin typeface="Segoe UI"/>
              </a:rPr>
              <a:t>Next.js — Documentation. nextjs.org/docs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[2]  </a:t>
            </a:r>
            <a:r>
              <a:rPr sz="1200" b="0">
                <a:solidFill>
                  <a:srgbClr val="0F1E3D"/>
                </a:solidFill>
                <a:latin typeface="Segoe UI"/>
              </a:rPr>
              <a:t>Supabase — Documentation. supabase.com/docs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[3]  </a:t>
            </a:r>
            <a:r>
              <a:rPr sz="1200" b="0">
                <a:solidFill>
                  <a:srgbClr val="0F1E3D"/>
                </a:solidFill>
                <a:latin typeface="Segoe UI"/>
              </a:rPr>
              <a:t>PostgreSQL — Row Security Policies. postgresql.org/docs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[4]  </a:t>
            </a:r>
            <a:r>
              <a:rPr sz="1200" b="0">
                <a:solidFill>
                  <a:srgbClr val="0F1E3D"/>
                </a:solidFill>
                <a:latin typeface="Segoe UI"/>
              </a:rPr>
              <a:t>React — react.dev  ·  Tailwind CSS — tailwindcss.com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[5]  </a:t>
            </a:r>
            <a:r>
              <a:rPr sz="1200" b="0">
                <a:solidFill>
                  <a:srgbClr val="0F1E3D"/>
                </a:solidFill>
                <a:latin typeface="Segoe UI"/>
              </a:rPr>
              <a:t>shadcn/ui — ui.shadcn.com  ·  Recharts — recharts.org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[6]  </a:t>
            </a:r>
            <a:r>
              <a:rPr sz="1200" b="0">
                <a:solidFill>
                  <a:srgbClr val="0F1E3D"/>
                </a:solidFill>
                <a:latin typeface="Segoe UI"/>
              </a:rPr>
              <a:t>Resend — Email API. resend.com/docs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[7]  </a:t>
            </a:r>
            <a:r>
              <a:rPr sz="1200" b="0">
                <a:solidFill>
                  <a:srgbClr val="0F1E3D"/>
                </a:solidFill>
                <a:latin typeface="Segoe UI"/>
              </a:rPr>
              <a:t>Election Commission of India — EVM &amp; VVPAT. eci.gov.in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[8]  </a:t>
            </a:r>
            <a:r>
              <a:rPr sz="1200" b="0">
                <a:solidFill>
                  <a:srgbClr val="0F1E3D"/>
                </a:solidFill>
                <a:latin typeface="Segoe UI"/>
              </a:rPr>
              <a:t>Republic of Estonia — i-Voting. e-estonia.com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[9]  </a:t>
            </a:r>
            <a:r>
              <a:rPr sz="1200" b="0">
                <a:solidFill>
                  <a:srgbClr val="0F1E3D"/>
                </a:solidFill>
                <a:latin typeface="Segoe UI"/>
              </a:rPr>
              <a:t>Springall et al., "Security Analysis of the Estonian Internet Voting System," ACM CCS 2014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F9933"/>
                </a:solidFill>
                <a:latin typeface="Segoe UI"/>
              </a:rPr>
              <a:t>[10]  </a:t>
            </a:r>
            <a:r>
              <a:rPr sz="1200" b="0">
                <a:solidFill>
                  <a:srgbClr val="0F1E3D"/>
                </a:solidFill>
                <a:latin typeface="Segoe UI"/>
              </a:rPr>
              <a:t>Specter et al., "The Ballot is Busted Before the Blockchain: A Security Analysis of Voatz," USENIX Security 2020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A2A6C"/>
              </a:gs>
              <a:gs pos="100000">
                <a:srgbClr val="22307D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737360"/>
            <a:ext cx="5120640" cy="5120640"/>
          </a:xfrm>
          <a:prstGeom prst="ellipse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1388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331720"/>
            <a:ext cx="2286000" cy="91440"/>
          </a:xfrm>
          <a:prstGeom prst="rect">
            <a:avLst/>
          </a:prstGeom>
          <a:solidFill>
            <a:srgbClr val="FF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7D2FE"/>
                </a:solidFill>
                <a:latin typeface="Georgia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Saransh Kumar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7D2FE"/>
                </a:solidFill>
                <a:latin typeface="Segoe UI"/>
              </a:rPr>
              <a:t>UID 023BCA110194  ·  BCA-V2  ·  Chandigarh University  ·  Mentor: Sahil Jindal (Quollabb)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